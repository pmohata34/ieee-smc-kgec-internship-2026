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A56467-AA15-494A-A3DC-2EBA4863FB5C}" v="1" dt="2026-08-21T14:28:47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73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jal Mohata" userId="c5944690309aeaaf" providerId="LiveId" clId="{C1FC722F-C593-4A09-B43D-5C6C48F4E82F}"/>
    <pc:docChg chg="modSld">
      <pc:chgData name="Pranjal Mohata" userId="c5944690309aeaaf" providerId="LiveId" clId="{C1FC722F-C593-4A09-B43D-5C6C48F4E82F}" dt="2026-08-21T14:32:27.337" v="13" actId="255"/>
      <pc:docMkLst>
        <pc:docMk/>
      </pc:docMkLst>
      <pc:sldChg chg="modSp mod">
        <pc:chgData name="Pranjal Mohata" userId="c5944690309aeaaf" providerId="LiveId" clId="{C1FC722F-C593-4A09-B43D-5C6C48F4E82F}" dt="2026-08-21T14:30:09.640" v="9" actId="207"/>
        <pc:sldMkLst>
          <pc:docMk/>
          <pc:sldMk cId="0" sldId="257"/>
        </pc:sldMkLst>
        <pc:spChg chg="mod">
          <ac:chgData name="Pranjal Mohata" userId="c5944690309aeaaf" providerId="LiveId" clId="{C1FC722F-C593-4A09-B43D-5C6C48F4E82F}" dt="2026-08-21T14:30:09.640" v="9" actId="20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Pranjal Mohata" userId="c5944690309aeaaf" providerId="LiveId" clId="{C1FC722F-C593-4A09-B43D-5C6C48F4E82F}" dt="2026-08-21T14:30:04.103" v="8" actId="207"/>
        <pc:sldMkLst>
          <pc:docMk/>
          <pc:sldMk cId="0" sldId="258"/>
        </pc:sldMkLst>
        <pc:spChg chg="mod">
          <ac:chgData name="Pranjal Mohata" userId="c5944690309aeaaf" providerId="LiveId" clId="{C1FC722F-C593-4A09-B43D-5C6C48F4E82F}" dt="2026-08-21T14:30:04.103" v="8" actId="207"/>
          <ac:spMkLst>
            <pc:docMk/>
            <pc:sldMk cId="0" sldId="258"/>
            <ac:spMk id="50" creationId="{00000000-0000-0000-0000-000000000000}"/>
          </ac:spMkLst>
        </pc:spChg>
      </pc:sldChg>
      <pc:sldChg chg="modSp mod">
        <pc:chgData name="Pranjal Mohata" userId="c5944690309aeaaf" providerId="LiveId" clId="{C1FC722F-C593-4A09-B43D-5C6C48F4E82F}" dt="2026-08-21T14:29:58.437" v="7" actId="207"/>
        <pc:sldMkLst>
          <pc:docMk/>
          <pc:sldMk cId="0" sldId="259"/>
        </pc:sldMkLst>
        <pc:spChg chg="mod">
          <ac:chgData name="Pranjal Mohata" userId="c5944690309aeaaf" providerId="LiveId" clId="{C1FC722F-C593-4A09-B43D-5C6C48F4E82F}" dt="2026-08-21T14:29:58.437" v="7" actId="207"/>
          <ac:spMkLst>
            <pc:docMk/>
            <pc:sldMk cId="0" sldId="259"/>
            <ac:spMk id="64" creationId="{00000000-0000-0000-0000-000000000000}"/>
          </ac:spMkLst>
        </pc:spChg>
      </pc:sldChg>
      <pc:sldChg chg="modSp mod">
        <pc:chgData name="Pranjal Mohata" userId="c5944690309aeaaf" providerId="LiveId" clId="{C1FC722F-C593-4A09-B43D-5C6C48F4E82F}" dt="2026-08-21T14:29:51.492" v="6" actId="207"/>
        <pc:sldMkLst>
          <pc:docMk/>
          <pc:sldMk cId="0" sldId="260"/>
        </pc:sldMkLst>
        <pc:spChg chg="mod">
          <ac:chgData name="Pranjal Mohata" userId="c5944690309aeaaf" providerId="LiveId" clId="{C1FC722F-C593-4A09-B43D-5C6C48F4E82F}" dt="2026-08-21T14:29:51.492" v="6" actId="207"/>
          <ac:spMkLst>
            <pc:docMk/>
            <pc:sldMk cId="0" sldId="260"/>
            <ac:spMk id="78" creationId="{00000000-0000-0000-0000-000000000000}"/>
          </ac:spMkLst>
        </pc:spChg>
      </pc:sldChg>
      <pc:sldChg chg="modSp mod">
        <pc:chgData name="Pranjal Mohata" userId="c5944690309aeaaf" providerId="LiveId" clId="{C1FC722F-C593-4A09-B43D-5C6C48F4E82F}" dt="2026-08-21T14:31:56.831" v="12" actId="1076"/>
        <pc:sldMkLst>
          <pc:docMk/>
          <pc:sldMk cId="0" sldId="261"/>
        </pc:sldMkLst>
        <pc:spChg chg="mod">
          <ac:chgData name="Pranjal Mohata" userId="c5944690309aeaaf" providerId="LiveId" clId="{C1FC722F-C593-4A09-B43D-5C6C48F4E82F}" dt="2026-08-21T14:29:30.273" v="5" actId="207"/>
          <ac:spMkLst>
            <pc:docMk/>
            <pc:sldMk cId="0" sldId="261"/>
            <ac:spMk id="92" creationId="{00000000-0000-0000-0000-000000000000}"/>
          </ac:spMkLst>
        </pc:spChg>
        <pc:spChg chg="mod">
          <ac:chgData name="Pranjal Mohata" userId="c5944690309aeaaf" providerId="LiveId" clId="{C1FC722F-C593-4A09-B43D-5C6C48F4E82F}" dt="2026-08-21T14:31:56.831" v="12" actId="1076"/>
          <ac:spMkLst>
            <pc:docMk/>
            <pc:sldMk cId="0" sldId="261"/>
            <ac:spMk id="9081" creationId="{00000000-0000-0000-0000-000000000000}"/>
          </ac:spMkLst>
        </pc:spChg>
        <pc:picChg chg="mod">
          <ac:chgData name="Pranjal Mohata" userId="c5944690309aeaaf" providerId="LiveId" clId="{C1FC722F-C593-4A09-B43D-5C6C48F4E82F}" dt="2026-08-21T14:31:49.646" v="11" actId="1076"/>
          <ac:picMkLst>
            <pc:docMk/>
            <pc:sldMk cId="0" sldId="261"/>
            <ac:picMk id="9080" creationId="{00000000-0000-0000-0000-000000000000}"/>
          </ac:picMkLst>
        </pc:picChg>
      </pc:sldChg>
      <pc:sldChg chg="addSp delSp modSp mod">
        <pc:chgData name="Pranjal Mohata" userId="c5944690309aeaaf" providerId="LiveId" clId="{C1FC722F-C593-4A09-B43D-5C6C48F4E82F}" dt="2026-08-21T14:29:07.860" v="4"/>
        <pc:sldMkLst>
          <pc:docMk/>
          <pc:sldMk cId="0" sldId="262"/>
        </pc:sldMkLst>
        <pc:spChg chg="add del mod">
          <ac:chgData name="Pranjal Mohata" userId="c5944690309aeaaf" providerId="LiveId" clId="{C1FC722F-C593-4A09-B43D-5C6C48F4E82F}" dt="2026-08-21T14:29:07.860" v="4"/>
          <ac:spMkLst>
            <pc:docMk/>
            <pc:sldMk cId="0" sldId="262"/>
            <ac:spMk id="2" creationId="{52CC6D28-BFB7-F00F-A062-AC2D06676B8B}"/>
          </ac:spMkLst>
        </pc:spChg>
        <pc:spChg chg="mod">
          <ac:chgData name="Pranjal Mohata" userId="c5944690309aeaaf" providerId="LiveId" clId="{C1FC722F-C593-4A09-B43D-5C6C48F4E82F}" dt="2026-08-21T14:29:06.425" v="2" actId="207"/>
          <ac:spMkLst>
            <pc:docMk/>
            <pc:sldMk cId="0" sldId="262"/>
            <ac:spMk id="106" creationId="{00000000-0000-0000-0000-000000000000}"/>
          </ac:spMkLst>
        </pc:spChg>
      </pc:sldChg>
      <pc:sldChg chg="modSp mod">
        <pc:chgData name="Pranjal Mohata" userId="c5944690309aeaaf" providerId="LiveId" clId="{C1FC722F-C593-4A09-B43D-5C6C48F4E82F}" dt="2026-08-21T14:32:27.337" v="13" actId="255"/>
        <pc:sldMkLst>
          <pc:docMk/>
          <pc:sldMk cId="0" sldId="263"/>
        </pc:sldMkLst>
        <pc:spChg chg="mod">
          <ac:chgData name="Pranjal Mohata" userId="c5944690309aeaaf" providerId="LiveId" clId="{C1FC722F-C593-4A09-B43D-5C6C48F4E82F}" dt="2026-08-21T14:32:27.337" v="13" actId="255"/>
          <ac:spMkLst>
            <pc:docMk/>
            <pc:sldMk cId="0" sldId="263"/>
            <ac:spMk id="909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Kalyani Government Engineering College | Kalyani University Area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738150" cy="71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6" name="Picture 6" descr="https://www.ieeesmc.org/wp-content/uploads/2020/01/SMCS_ID_4-12___17_Mar_202011-scale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95868" y="6460852"/>
            <a:ext cx="1322103" cy="397148"/>
          </a:xfrm>
          <a:prstGeom prst="rect">
            <a:avLst/>
          </a:prstGeom>
          <a:noFill/>
        </p:spPr>
      </p:pic>
      <p:pic>
        <p:nvPicPr>
          <p:cNvPr id="15368" name="Picture 8" descr="IEEE logo transparent PNG - Stick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272849" y="0"/>
            <a:ext cx="919151" cy="512538"/>
          </a:xfrm>
          <a:prstGeom prst="rect">
            <a:avLst/>
          </a:prstGeom>
          <a:noFill/>
        </p:spPr>
      </p:pic>
      <p:sp>
        <p:nvSpPr>
          <p:cNvPr id="9001" name="Dot9001"/>
          <p:cNvSpPr/>
          <p:nvPr/>
        </p:nvSpPr>
        <p:spPr>
          <a:xfrm>
            <a:off x="9052560" y="-2103120"/>
            <a:ext cx="5120640" cy="5120640"/>
          </a:xfrm>
          <a:prstGeom prst="ellipse">
            <a:avLst/>
          </a:prstGeom>
          <a:solidFill>
            <a:srgbClr val="CADCFC">
              <a:alpha val="35000"/>
            </a:srgbClr>
          </a:solidFill>
          <a:ln>
            <a:noFill/>
          </a:ln>
        </p:spPr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9002" name="TB9002"/>
          <p:cNvSpPr txBox="1"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TempestGuard</a:t>
            </a:r>
          </a:p>
        </p:txBody>
      </p:sp>
      <p:sp>
        <p:nvSpPr>
          <p:cNvPr id="9003" name="TB9003"/>
          <p:cNvSpPr txBox="1"/>
          <p:nvPr/>
        </p:nvSpPr>
        <p:spPr>
          <a:xfrm>
            <a:off x="822960" y="342900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Predicting Thunderstorms with Virtual Weather Sensors &amp; Machine Learning</a:t>
            </a:r>
          </a:p>
        </p:txBody>
      </p:sp>
      <p:cxnSp>
        <p:nvCxnSpPr>
          <p:cNvPr id="9004" name="Line9004"/>
          <p:cNvCxnSpPr/>
          <p:nvPr/>
        </p:nvCxnSpPr>
        <p:spPr>
          <a:xfrm>
            <a:off x="841248" y="4224528"/>
            <a:ext cx="2743200" cy="0"/>
          </a:xfrm>
          <a:prstGeom prst="straightConnector1">
            <a:avLst/>
          </a:prstGeom>
          <a:noFill/>
          <a:ln w="2794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05" name="TB9005"/>
          <p:cNvSpPr txBox="1"/>
          <p:nvPr/>
        </p:nvSpPr>
        <p:spPr>
          <a:xfrm>
            <a:off x="822960" y="53492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Chapter, KGEC  •  Research Internship Programme 2026</a:t>
            </a:r>
          </a:p>
        </p:txBody>
      </p:sp>
      <p:sp>
        <p:nvSpPr>
          <p:cNvPr id="9006" name="TB9006"/>
          <p:cNvSpPr txBox="1"/>
          <p:nvPr/>
        </p:nvSpPr>
        <p:spPr>
          <a:xfrm>
            <a:off x="822960" y="568756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Pranjal Mohata  •  B.Tech CSE, Final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9966960" y="-2103120"/>
            <a:ext cx="5120640" cy="5120640"/>
          </a:xfrm>
          <a:prstGeom prst="ellipse">
            <a:avLst/>
          </a:prstGeom>
          <a:solidFill>
            <a:srgbClr val="CADCFC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991295" y="228600"/>
            <a:ext cx="2743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3E7F5"/>
              </a:buClr>
              <a:buSzPts val="11000"/>
              <a:buFont typeface="Cambria"/>
              <a:buNone/>
            </a:pPr>
            <a:r>
              <a:rPr lang="en-US" sz="110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10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22960" y="411480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4" descr="/home/claude/icon_introduc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62179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822960" y="17830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22960" y="2606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Background and problem statement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868680" y="324612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4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2" descr="Kalyani Government Engineering College | Kalyani University Area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" y="0"/>
            <a:ext cx="738150" cy="71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6" descr="https://www.ieeesmc.org/wp-content/uploads/2020/01/SMCS_ID_4-12___17_Mar_202011-scaled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95868" y="6460852"/>
            <a:ext cx="1322103" cy="397148"/>
          </a:xfrm>
          <a:prstGeom prst="rect">
            <a:avLst/>
          </a:prstGeom>
          <a:noFill/>
        </p:spPr>
      </p:pic>
      <p:pic>
        <p:nvPicPr>
          <p:cNvPr id="13" name="Picture 8" descr="IEEE logo transparent PNG - Stick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72849" y="0"/>
            <a:ext cx="919151" cy="512538"/>
          </a:xfrm>
          <a:prstGeom prst="rect">
            <a:avLst/>
          </a:prstGeom>
          <a:noFill/>
        </p:spPr>
      </p:pic>
      <p:sp>
        <p:nvSpPr>
          <p:cNvPr id="9007" name="Card9007"/>
          <p:cNvSpPr/>
          <p:nvPr/>
        </p:nvSpPr>
        <p:spPr>
          <a:xfrm>
            <a:off x="82296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08" name="Dot9008"/>
          <p:cNvSpPr/>
          <p:nvPr/>
        </p:nvSpPr>
        <p:spPr>
          <a:xfrm>
            <a:off x="102412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09" name="TB9009"/>
          <p:cNvSpPr txBox="1"/>
          <p:nvPr/>
        </p:nvSpPr>
        <p:spPr>
          <a:xfrm>
            <a:off x="102412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</a:p>
        </p:txBody>
      </p:sp>
      <p:sp>
        <p:nvSpPr>
          <p:cNvPr id="9010" name="TB9010"/>
          <p:cNvSpPr txBox="1"/>
          <p:nvPr/>
        </p:nvSpPr>
        <p:spPr>
          <a:xfrm>
            <a:off x="102412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Thunderstorms build up fast — wind, pressure swings, sudden rain — and there's often little warning before they hit.</a:t>
            </a:r>
          </a:p>
        </p:txBody>
      </p:sp>
      <p:sp>
        <p:nvSpPr>
          <p:cNvPr id="9011" name="Card9011"/>
          <p:cNvSpPr/>
          <p:nvPr/>
        </p:nvSpPr>
        <p:spPr>
          <a:xfrm>
            <a:off x="350901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12" name="Dot9012"/>
          <p:cNvSpPr/>
          <p:nvPr/>
        </p:nvSpPr>
        <p:spPr>
          <a:xfrm>
            <a:off x="371017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13" name="TB9013"/>
          <p:cNvSpPr txBox="1"/>
          <p:nvPr/>
        </p:nvSpPr>
        <p:spPr>
          <a:xfrm>
            <a:off x="371017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Our Idea</a:t>
            </a:r>
          </a:p>
        </p:txBody>
      </p:sp>
      <p:sp>
        <p:nvSpPr>
          <p:cNvPr id="9014" name="TB9014"/>
          <p:cNvSpPr txBox="1"/>
          <p:nvPr/>
        </p:nvSpPr>
        <p:spPr>
          <a:xfrm>
            <a:off x="371017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Instead of buying physical sensors, we turned a live weather API into a network of “virtual” sensor nodes.</a:t>
            </a:r>
          </a:p>
        </p:txBody>
      </p:sp>
      <p:sp>
        <p:nvSpPr>
          <p:cNvPr id="9015" name="Card9015"/>
          <p:cNvSpPr/>
          <p:nvPr/>
        </p:nvSpPr>
        <p:spPr>
          <a:xfrm>
            <a:off x="619506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16" name="Dot9016"/>
          <p:cNvSpPr/>
          <p:nvPr/>
        </p:nvSpPr>
        <p:spPr>
          <a:xfrm>
            <a:off x="639622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17" name="TB9017"/>
          <p:cNvSpPr txBox="1"/>
          <p:nvPr/>
        </p:nvSpPr>
        <p:spPr>
          <a:xfrm>
            <a:off x="639622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</a:p>
        </p:txBody>
      </p:sp>
      <p:sp>
        <p:nvSpPr>
          <p:cNvPr id="9018" name="TB9018"/>
          <p:cNvSpPr txBox="1"/>
          <p:nvPr/>
        </p:nvSpPr>
        <p:spPr>
          <a:xfrm>
            <a:off x="639622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Collect readings, label the risk, engineer a few smart features, classify, and put it all on a live dashboard.</a:t>
            </a:r>
          </a:p>
        </p:txBody>
      </p:sp>
      <p:sp>
        <p:nvSpPr>
          <p:cNvPr id="9019" name="Card9019"/>
          <p:cNvSpPr/>
          <p:nvPr/>
        </p:nvSpPr>
        <p:spPr>
          <a:xfrm>
            <a:off x="888111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20" name="Dot9020"/>
          <p:cNvSpPr/>
          <p:nvPr/>
        </p:nvSpPr>
        <p:spPr>
          <a:xfrm>
            <a:off x="908227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21" name="TB9021"/>
          <p:cNvSpPr txBox="1"/>
          <p:nvPr/>
        </p:nvSpPr>
        <p:spPr>
          <a:xfrm>
            <a:off x="908227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You Get</a:t>
            </a:r>
          </a:p>
        </p:txBody>
      </p:sp>
      <p:sp>
        <p:nvSpPr>
          <p:cNvPr id="9022" name="TB9022"/>
          <p:cNvSpPr txBox="1"/>
          <p:nvPr/>
        </p:nvSpPr>
        <p:spPr>
          <a:xfrm>
            <a:off x="908227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A dashboard that flags thunderstorm risk for each node in real time — no hardware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9966960" y="-2103120"/>
            <a:ext cx="5120640" cy="5120640"/>
          </a:xfrm>
          <a:prstGeom prst="ellipse">
            <a:avLst/>
          </a:prstGeom>
          <a:solidFill>
            <a:srgbClr val="CADCFC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8991295" y="228600"/>
            <a:ext cx="2743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3E7F5"/>
              </a:buClr>
              <a:buSzPts val="11000"/>
              <a:buFont typeface="Cambria"/>
              <a:buNone/>
            </a:pPr>
            <a:r>
              <a:rPr lang="en-US" sz="110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10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22960" y="411480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5" descr="/home/claude/icon_literatur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62179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822960" y="17830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Literature Study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22960" y="2606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Review of existing research and related work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5"/>
          <p:cNvCxnSpPr/>
          <p:nvPr/>
        </p:nvCxnSpPr>
        <p:spPr>
          <a:xfrm>
            <a:off x="868680" y="324612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5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2" descr="Kalyani Government Engineering College | Kalyani University Area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" y="0"/>
            <a:ext cx="738150" cy="71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6" descr="https://www.ieeesmc.org/wp-content/uploads/2020/01/SMCS_ID_4-12___17_Mar_202011-scaled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95868" y="6460852"/>
            <a:ext cx="1322103" cy="397148"/>
          </a:xfrm>
          <a:prstGeom prst="rect">
            <a:avLst/>
          </a:prstGeom>
          <a:noFill/>
        </p:spPr>
      </p:pic>
      <p:pic>
        <p:nvPicPr>
          <p:cNvPr id="13" name="Picture 8" descr="IEEE logo transparent PNG - Stick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72849" y="0"/>
            <a:ext cx="919151" cy="512538"/>
          </a:xfrm>
          <a:prstGeom prst="rect">
            <a:avLst/>
          </a:prstGeom>
          <a:noFill/>
        </p:spPr>
      </p:pic>
      <p:sp>
        <p:nvSpPr>
          <p:cNvPr id="9023" name="Card9023"/>
          <p:cNvSpPr/>
          <p:nvPr/>
        </p:nvSpPr>
        <p:spPr>
          <a:xfrm>
            <a:off x="82296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24" name="Dot9024"/>
          <p:cNvSpPr/>
          <p:nvPr/>
        </p:nvSpPr>
        <p:spPr>
          <a:xfrm>
            <a:off x="102412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25" name="TB9025"/>
          <p:cNvSpPr txBox="1"/>
          <p:nvPr/>
        </p:nvSpPr>
        <p:spPr>
          <a:xfrm>
            <a:off x="102412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Physical Sensor Networks</a:t>
            </a:r>
          </a:p>
        </p:txBody>
      </p:sp>
      <p:sp>
        <p:nvSpPr>
          <p:cNvPr id="9026" name="TB9026"/>
          <p:cNvSpPr txBox="1"/>
          <p:nvPr/>
        </p:nvSpPr>
        <p:spPr>
          <a:xfrm>
            <a:off x="102412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They're accurate, sure, but expensive to install and keep running at a campus or city-block scale.</a:t>
            </a:r>
          </a:p>
        </p:txBody>
      </p:sp>
      <p:sp>
        <p:nvSpPr>
          <p:cNvPr id="9027" name="Card9027"/>
          <p:cNvSpPr/>
          <p:nvPr/>
        </p:nvSpPr>
        <p:spPr>
          <a:xfrm>
            <a:off x="350901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28" name="Dot9028"/>
          <p:cNvSpPr/>
          <p:nvPr/>
        </p:nvSpPr>
        <p:spPr>
          <a:xfrm>
            <a:off x="371017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29" name="TB9029"/>
          <p:cNvSpPr txBox="1"/>
          <p:nvPr/>
        </p:nvSpPr>
        <p:spPr>
          <a:xfrm>
            <a:off x="371017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Public Weather APIs</a:t>
            </a:r>
          </a:p>
        </p:txBody>
      </p:sp>
      <p:sp>
        <p:nvSpPr>
          <p:cNvPr id="9030" name="TB9030"/>
          <p:cNvSpPr txBox="1"/>
          <p:nvPr/>
        </p:nvSpPr>
        <p:spPr>
          <a:xfrm>
            <a:off x="371017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Services like OpenWeatherMap make software-only “virtual” sensing genuinely realistic — and free to try.</a:t>
            </a:r>
          </a:p>
        </p:txBody>
      </p:sp>
      <p:sp>
        <p:nvSpPr>
          <p:cNvPr id="9031" name="Card9031"/>
          <p:cNvSpPr/>
          <p:nvPr/>
        </p:nvSpPr>
        <p:spPr>
          <a:xfrm>
            <a:off x="619506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32" name="Dot9032"/>
          <p:cNvSpPr/>
          <p:nvPr/>
        </p:nvSpPr>
        <p:spPr>
          <a:xfrm>
            <a:off x="639622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33" name="TB9033"/>
          <p:cNvSpPr txBox="1"/>
          <p:nvPr/>
        </p:nvSpPr>
        <p:spPr>
          <a:xfrm>
            <a:off x="639622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ML for Weather Data</a:t>
            </a:r>
          </a:p>
        </p:txBody>
      </p:sp>
      <p:sp>
        <p:nvSpPr>
          <p:cNvPr id="9034" name="TB9034"/>
          <p:cNvSpPr txBox="1"/>
          <p:nvPr/>
        </p:nvSpPr>
        <p:spPr>
          <a:xfrm>
            <a:off x="639622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Random Forest keeps coming up as a solid, low-fuss choice for this kind of tabular weather data.</a:t>
            </a:r>
          </a:p>
        </p:txBody>
      </p:sp>
      <p:sp>
        <p:nvSpPr>
          <p:cNvPr id="9035" name="Card9035"/>
          <p:cNvSpPr/>
          <p:nvPr/>
        </p:nvSpPr>
        <p:spPr>
          <a:xfrm>
            <a:off x="888111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36" name="Dot9036"/>
          <p:cNvSpPr/>
          <p:nvPr/>
        </p:nvSpPr>
        <p:spPr>
          <a:xfrm>
            <a:off x="908227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37" name="TB9037"/>
          <p:cNvSpPr txBox="1"/>
          <p:nvPr/>
        </p:nvSpPr>
        <p:spPr>
          <a:xfrm>
            <a:off x="908227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Where the Gap Is</a:t>
            </a:r>
          </a:p>
        </p:txBody>
      </p:sp>
      <p:sp>
        <p:nvSpPr>
          <p:cNvPr id="9038" name="TB9038"/>
          <p:cNvSpPr txBox="1"/>
          <p:nvPr/>
        </p:nvSpPr>
        <p:spPr>
          <a:xfrm>
            <a:off x="908227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Very few student projects combine live API sensing, ML, and a dashboard people can actually act on — so we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9966960" y="-2103120"/>
            <a:ext cx="5120640" cy="5120640"/>
          </a:xfrm>
          <a:prstGeom prst="ellipse">
            <a:avLst/>
          </a:prstGeom>
          <a:solidFill>
            <a:srgbClr val="CADCFC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8991295" y="228600"/>
            <a:ext cx="2743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3E7F5"/>
              </a:buClr>
              <a:buSzPts val="11000"/>
              <a:buFont typeface="Cambria"/>
              <a:buNone/>
            </a:pPr>
            <a:r>
              <a:rPr lang="en-US" sz="110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10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822960" y="411480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6" descr="/home/claude/icon_contribu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62179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822960" y="17830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Contribution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22960" y="2606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What this work adds to the field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868680" y="324612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2" descr="Kalyani Government Engineering College | Kalyani University Area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" y="0"/>
            <a:ext cx="738150" cy="71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6" descr="https://www.ieeesmc.org/wp-content/uploads/2020/01/SMCS_ID_4-12___17_Mar_202011-scaled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95868" y="6460852"/>
            <a:ext cx="1322103" cy="397148"/>
          </a:xfrm>
          <a:prstGeom prst="rect">
            <a:avLst/>
          </a:prstGeom>
          <a:noFill/>
        </p:spPr>
      </p:pic>
      <p:pic>
        <p:nvPicPr>
          <p:cNvPr id="13" name="Picture 8" descr="IEEE logo transparent PNG - Stick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72849" y="0"/>
            <a:ext cx="919151" cy="512538"/>
          </a:xfrm>
          <a:prstGeom prst="rect">
            <a:avLst/>
          </a:prstGeom>
          <a:noFill/>
        </p:spPr>
      </p:pic>
      <p:sp>
        <p:nvSpPr>
          <p:cNvPr id="9039" name="Card9039"/>
          <p:cNvSpPr/>
          <p:nvPr/>
        </p:nvSpPr>
        <p:spPr>
          <a:xfrm>
            <a:off x="82296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40" name="Dot9040"/>
          <p:cNvSpPr/>
          <p:nvPr/>
        </p:nvSpPr>
        <p:spPr>
          <a:xfrm>
            <a:off x="102412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41" name="TB9041"/>
          <p:cNvSpPr txBox="1"/>
          <p:nvPr/>
        </p:nvSpPr>
        <p:spPr>
          <a:xfrm>
            <a:off x="102412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Sensors Made of Code</a:t>
            </a:r>
          </a:p>
        </p:txBody>
      </p:sp>
      <p:sp>
        <p:nvSpPr>
          <p:cNvPr id="9042" name="TB9042"/>
          <p:cNvSpPr txBox="1"/>
          <p:nvPr/>
        </p:nvSpPr>
        <p:spPr>
          <a:xfrm>
            <a:off x="102412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Five live nodes across Howrah and Kolkata, built entirely from API calls — nothing to wire up.</a:t>
            </a:r>
          </a:p>
        </p:txBody>
      </p:sp>
      <p:sp>
        <p:nvSpPr>
          <p:cNvPr id="9043" name="Card9043"/>
          <p:cNvSpPr/>
          <p:nvPr/>
        </p:nvSpPr>
        <p:spPr>
          <a:xfrm>
            <a:off x="350901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44" name="Dot9044"/>
          <p:cNvSpPr/>
          <p:nvPr/>
        </p:nvSpPr>
        <p:spPr>
          <a:xfrm>
            <a:off x="371017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45" name="TB9045"/>
          <p:cNvSpPr txBox="1"/>
          <p:nvPr/>
        </p:nvSpPr>
        <p:spPr>
          <a:xfrm>
            <a:off x="371017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Features That Matter</a:t>
            </a:r>
          </a:p>
        </p:txBody>
      </p:sp>
      <p:sp>
        <p:nvSpPr>
          <p:cNvPr id="9046" name="TB9046"/>
          <p:cNvSpPr txBox="1"/>
          <p:nvPr/>
        </p:nvSpPr>
        <p:spPr>
          <a:xfrm>
            <a:off x="371017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Pressure-change and humidity-change turned out to be strong signals for a storm building up.</a:t>
            </a:r>
          </a:p>
        </p:txBody>
      </p:sp>
      <p:sp>
        <p:nvSpPr>
          <p:cNvPr id="9047" name="Card9047"/>
          <p:cNvSpPr/>
          <p:nvPr/>
        </p:nvSpPr>
        <p:spPr>
          <a:xfrm>
            <a:off x="619506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48" name="Dot9048"/>
          <p:cNvSpPr/>
          <p:nvPr/>
        </p:nvSpPr>
        <p:spPr>
          <a:xfrm>
            <a:off x="639622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49" name="TB9049"/>
          <p:cNvSpPr txBox="1"/>
          <p:nvPr/>
        </p:nvSpPr>
        <p:spPr>
          <a:xfrm>
            <a:off x="639622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Simple, Solid Classifier</a:t>
            </a:r>
          </a:p>
        </p:txBody>
      </p:sp>
      <p:sp>
        <p:nvSpPr>
          <p:cNvPr id="9050" name="TB9050"/>
          <p:cNvSpPr txBox="1"/>
          <p:nvPr/>
        </p:nvSpPr>
        <p:spPr>
          <a:xfrm>
            <a:off x="639622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A Random Forest model predicts thunderstorm risk from 8 engineered features per node.</a:t>
            </a:r>
          </a:p>
        </p:txBody>
      </p:sp>
      <p:sp>
        <p:nvSpPr>
          <p:cNvPr id="9051" name="Card9051"/>
          <p:cNvSpPr/>
          <p:nvPr/>
        </p:nvSpPr>
        <p:spPr>
          <a:xfrm>
            <a:off x="8881110" y="3611880"/>
            <a:ext cx="248488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52" name="Dot9052"/>
          <p:cNvSpPr/>
          <p:nvPr/>
        </p:nvSpPr>
        <p:spPr>
          <a:xfrm>
            <a:off x="9082278" y="381304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53" name="TB9053"/>
          <p:cNvSpPr txBox="1"/>
          <p:nvPr/>
        </p:nvSpPr>
        <p:spPr>
          <a:xfrm>
            <a:off x="9082278" y="4050792"/>
            <a:ext cx="20825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Not Just a Warning — A Plan</a:t>
            </a:r>
          </a:p>
        </p:txBody>
      </p:sp>
      <p:sp>
        <p:nvSpPr>
          <p:cNvPr id="9054" name="TB9054"/>
          <p:cNvSpPr txBox="1"/>
          <p:nvPr/>
        </p:nvSpPr>
        <p:spPr>
          <a:xfrm>
            <a:off x="9082278" y="4617720"/>
            <a:ext cx="208254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The dashboard points you to the nearest node that's currently safe, not just the one that's risky.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9966960" y="-2103120"/>
            <a:ext cx="5120640" cy="5120640"/>
          </a:xfrm>
          <a:prstGeom prst="ellipse">
            <a:avLst/>
          </a:prstGeom>
          <a:solidFill>
            <a:srgbClr val="CADCFC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8991295" y="228600"/>
            <a:ext cx="2743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3E7F5"/>
              </a:buClr>
              <a:buSzPts val="11000"/>
              <a:buFont typeface="Cambria"/>
              <a:buNone/>
            </a:pPr>
            <a:r>
              <a:rPr lang="en-US" sz="110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110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822960" y="411480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7" descr="/home/claude/icon_methodolog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62179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/>
          <p:nvPr/>
        </p:nvSpPr>
        <p:spPr>
          <a:xfrm>
            <a:off x="822960" y="17830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822960" y="2606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Approach, design, and implementation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7"/>
          <p:cNvCxnSpPr/>
          <p:nvPr/>
        </p:nvCxnSpPr>
        <p:spPr>
          <a:xfrm>
            <a:off x="868680" y="324612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7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2" descr="Kalyani Government Engineering College | Kalyani University Area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" y="0"/>
            <a:ext cx="738150" cy="71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6" descr="https://www.ieeesmc.org/wp-content/uploads/2020/01/SMCS_ID_4-12___17_Mar_202011-scaled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95868" y="6460852"/>
            <a:ext cx="1322103" cy="397148"/>
          </a:xfrm>
          <a:prstGeom prst="rect">
            <a:avLst/>
          </a:prstGeom>
          <a:noFill/>
        </p:spPr>
      </p:pic>
      <p:pic>
        <p:nvPicPr>
          <p:cNvPr id="13" name="Picture 8" descr="IEEE logo transparent PNG - Stick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72849" y="0"/>
            <a:ext cx="919151" cy="512538"/>
          </a:xfrm>
          <a:prstGeom prst="rect">
            <a:avLst/>
          </a:prstGeom>
          <a:noFill/>
        </p:spPr>
      </p:pic>
      <p:sp>
        <p:nvSpPr>
          <p:cNvPr id="9055" name="Dot9055"/>
          <p:cNvSpPr/>
          <p:nvPr/>
        </p:nvSpPr>
        <p:spPr>
          <a:xfrm>
            <a:off x="822960" y="363931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56" name="TB9056"/>
          <p:cNvSpPr txBox="1"/>
          <p:nvPr/>
        </p:nvSpPr>
        <p:spPr>
          <a:xfrm>
            <a:off x="822960" y="363931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9057" name="TB9057"/>
          <p:cNvSpPr txBox="1"/>
          <p:nvPr/>
        </p:nvSpPr>
        <p:spPr>
          <a:xfrm>
            <a:off x="1280160" y="3593592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Collect  —  poll OpenWeatherMap per node — temp, pressure, humidity, wind, rain</a:t>
            </a:r>
          </a:p>
        </p:txBody>
      </p:sp>
      <p:sp>
        <p:nvSpPr>
          <p:cNvPr id="9058" name="Dot9058"/>
          <p:cNvSpPr/>
          <p:nvPr/>
        </p:nvSpPr>
        <p:spPr>
          <a:xfrm>
            <a:off x="822960" y="416966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59" name="TB9059"/>
          <p:cNvSpPr txBox="1"/>
          <p:nvPr/>
        </p:nvSpPr>
        <p:spPr>
          <a:xfrm>
            <a:off x="822960" y="41696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9060" name="TB9060"/>
          <p:cNvSpPr txBox="1"/>
          <p:nvPr/>
        </p:nvSpPr>
        <p:spPr>
          <a:xfrm>
            <a:off x="1280160" y="4123944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Label  —  auto-label thunderstorm risk from the weather code</a:t>
            </a:r>
          </a:p>
        </p:txBody>
      </p:sp>
      <p:sp>
        <p:nvSpPr>
          <p:cNvPr id="9061" name="Dot9061"/>
          <p:cNvSpPr/>
          <p:nvPr/>
        </p:nvSpPr>
        <p:spPr>
          <a:xfrm>
            <a:off x="822960" y="470001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62" name="TB9062"/>
          <p:cNvSpPr txBox="1"/>
          <p:nvPr/>
        </p:nvSpPr>
        <p:spPr>
          <a:xfrm>
            <a:off x="822960" y="47000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9063" name="TB9063"/>
          <p:cNvSpPr txBox="1"/>
          <p:nvPr/>
        </p:nvSpPr>
        <p:spPr>
          <a:xfrm>
            <a:off x="1280160" y="4654296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Engineer  —  compute pressure-change &amp; humidity-change per node</a:t>
            </a:r>
          </a:p>
        </p:txBody>
      </p:sp>
      <p:sp>
        <p:nvSpPr>
          <p:cNvPr id="9064" name="Dot9064"/>
          <p:cNvSpPr/>
          <p:nvPr/>
        </p:nvSpPr>
        <p:spPr>
          <a:xfrm>
            <a:off x="822960" y="5230368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65" name="TB9065"/>
          <p:cNvSpPr txBox="1"/>
          <p:nvPr/>
        </p:nvSpPr>
        <p:spPr>
          <a:xfrm>
            <a:off x="822960" y="523036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9066" name="TB9066"/>
          <p:cNvSpPr txBox="1"/>
          <p:nvPr/>
        </p:nvSpPr>
        <p:spPr>
          <a:xfrm>
            <a:off x="1280160" y="5184648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Train  —  Random Forest, 100 trees, 8 features, 70/30 split</a:t>
            </a:r>
          </a:p>
        </p:txBody>
      </p:sp>
      <p:sp>
        <p:nvSpPr>
          <p:cNvPr id="9067" name="Dot9067"/>
          <p:cNvSpPr/>
          <p:nvPr/>
        </p:nvSpPr>
        <p:spPr>
          <a:xfrm>
            <a:off x="822960" y="576072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68" name="TB9068"/>
          <p:cNvSpPr txBox="1"/>
          <p:nvPr/>
        </p:nvSpPr>
        <p:spPr>
          <a:xfrm>
            <a:off x="822960" y="57607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9069" name="TB9069"/>
          <p:cNvSpPr txBox="1"/>
          <p:nvPr/>
        </p:nvSpPr>
        <p:spPr>
          <a:xfrm>
            <a:off x="1280160" y="5715000"/>
            <a:ext cx="389534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Deploy  —  Flask dashboard shows live risk + nearest safe node</a:t>
            </a:r>
          </a:p>
        </p:txBody>
      </p:sp>
      <p:sp>
        <p:nvSpPr>
          <p:cNvPr id="9070" name="Card9070"/>
          <p:cNvSpPr/>
          <p:nvPr/>
        </p:nvSpPr>
        <p:spPr>
          <a:xfrm>
            <a:off x="6512814" y="3557016"/>
            <a:ext cx="3826764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pic>
        <p:nvPicPr>
          <p:cNvPr id="9071" name="Img907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7678" y="3611880"/>
            <a:ext cx="3717036" cy="2286000"/>
          </a:xfrm>
          <a:prstGeom prst="rect">
            <a:avLst/>
          </a:prstGeom>
        </p:spPr>
      </p:pic>
      <p:sp>
        <p:nvSpPr>
          <p:cNvPr id="9072" name="TB9072"/>
          <p:cNvSpPr txBox="1"/>
          <p:nvPr/>
        </p:nvSpPr>
        <p:spPr>
          <a:xfrm>
            <a:off x="6567678" y="5989320"/>
            <a:ext cx="37170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TempestGuard system architecture — sensor, processing &amp; output 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9966960" y="-2103120"/>
            <a:ext cx="5120640" cy="5120640"/>
          </a:xfrm>
          <a:prstGeom prst="ellipse">
            <a:avLst/>
          </a:prstGeom>
          <a:solidFill>
            <a:srgbClr val="CADCFC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8991295" y="228600"/>
            <a:ext cx="2743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3E7F5"/>
              </a:buClr>
              <a:buSzPts val="11000"/>
              <a:buFont typeface="Cambria"/>
              <a:buNone/>
            </a:pPr>
            <a:r>
              <a:rPr lang="en-US" sz="110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110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822960" y="411480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8" descr="/home/claude/icon_result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62179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/>
          <p:nvPr/>
        </p:nvSpPr>
        <p:spPr>
          <a:xfrm>
            <a:off x="822960" y="17830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822960" y="2606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Key findings and observations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8"/>
          <p:cNvCxnSpPr/>
          <p:nvPr/>
        </p:nvCxnSpPr>
        <p:spPr>
          <a:xfrm>
            <a:off x="868680" y="324612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8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2" descr="Kalyani Government Engineering College | Kalyani University Area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" y="0"/>
            <a:ext cx="738150" cy="71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6" descr="https://www.ieeesmc.org/wp-content/uploads/2020/01/SMCS_ID_4-12___17_Mar_202011-scaled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95868" y="6460852"/>
            <a:ext cx="1322103" cy="397148"/>
          </a:xfrm>
          <a:prstGeom prst="rect">
            <a:avLst/>
          </a:prstGeom>
          <a:noFill/>
        </p:spPr>
      </p:pic>
      <p:pic>
        <p:nvPicPr>
          <p:cNvPr id="13" name="Picture 8" descr="IEEE logo transparent PNG - Stick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72849" y="0"/>
            <a:ext cx="919151" cy="512538"/>
          </a:xfrm>
          <a:prstGeom prst="rect">
            <a:avLst/>
          </a:prstGeom>
          <a:noFill/>
        </p:spPr>
      </p:pic>
      <p:sp>
        <p:nvSpPr>
          <p:cNvPr id="9073" name="TB9073"/>
          <p:cNvSpPr txBox="1"/>
          <p:nvPr/>
        </p:nvSpPr>
        <p:spPr>
          <a:xfrm>
            <a:off x="822960" y="3611880"/>
            <a:ext cx="1463040" cy="88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9074" name="TB9074"/>
          <p:cNvSpPr txBox="1"/>
          <p:nvPr/>
        </p:nvSpPr>
        <p:spPr>
          <a:xfrm>
            <a:off x="2377440" y="3611880"/>
            <a:ext cx="2743200" cy="88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live virtual sensor nodes, running continuously</a:t>
            </a:r>
          </a:p>
        </p:txBody>
      </p:sp>
      <p:sp>
        <p:nvSpPr>
          <p:cNvPr id="9075" name="TB9075"/>
          <p:cNvSpPr txBox="1"/>
          <p:nvPr/>
        </p:nvSpPr>
        <p:spPr>
          <a:xfrm>
            <a:off x="822960" y="4495800"/>
            <a:ext cx="1463040" cy="88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</a:p>
        </p:txBody>
      </p:sp>
      <p:sp>
        <p:nvSpPr>
          <p:cNvPr id="9076" name="TB9076"/>
          <p:cNvSpPr txBox="1"/>
          <p:nvPr/>
        </p:nvSpPr>
        <p:spPr>
          <a:xfrm>
            <a:off x="2377440" y="4495800"/>
            <a:ext cx="2743200" cy="88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engineered weather features per prediction</a:t>
            </a:r>
          </a:p>
        </p:txBody>
      </p:sp>
      <p:sp>
        <p:nvSpPr>
          <p:cNvPr id="9077" name="TB9077"/>
          <p:cNvSpPr txBox="1"/>
          <p:nvPr/>
        </p:nvSpPr>
        <p:spPr>
          <a:xfrm>
            <a:off x="822960" y="5379720"/>
            <a:ext cx="1463040" cy="88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</a:p>
        </p:txBody>
      </p:sp>
      <p:sp>
        <p:nvSpPr>
          <p:cNvPr id="9078" name="TB9078"/>
          <p:cNvSpPr txBox="1"/>
          <p:nvPr/>
        </p:nvSpPr>
        <p:spPr>
          <a:xfrm>
            <a:off x="2377440" y="5379720"/>
            <a:ext cx="2743200" cy="88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trees in the Random Forest ensemble</a:t>
            </a:r>
          </a:p>
        </p:txBody>
      </p:sp>
      <p:sp>
        <p:nvSpPr>
          <p:cNvPr id="9079" name="Card9079"/>
          <p:cNvSpPr/>
          <p:nvPr/>
        </p:nvSpPr>
        <p:spPr>
          <a:xfrm>
            <a:off x="6337935" y="3557016"/>
            <a:ext cx="4176522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pic>
        <p:nvPicPr>
          <p:cNvPr id="9080" name="Img90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880" y="2759289"/>
            <a:ext cx="5124160" cy="2880360"/>
          </a:xfrm>
          <a:prstGeom prst="rect">
            <a:avLst/>
          </a:prstGeom>
        </p:spPr>
      </p:pic>
      <p:sp>
        <p:nvSpPr>
          <p:cNvPr id="9081" name="TB9081"/>
          <p:cNvSpPr txBox="1"/>
          <p:nvPr/>
        </p:nvSpPr>
        <p:spPr>
          <a:xfrm>
            <a:off x="6653403" y="5802552"/>
            <a:ext cx="406679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000" b="0" i="1" u="none" strike="noStrike" cap="none" dirty="0" err="1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TempestGuard</a:t>
            </a:r>
            <a:r>
              <a:rPr lang="en-US" sz="1000" b="0" i="1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 dashboard — live node-wise weather &amp; risk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9966960" y="-2103120"/>
            <a:ext cx="5120640" cy="5120640"/>
          </a:xfrm>
          <a:prstGeom prst="ellipse">
            <a:avLst/>
          </a:prstGeom>
          <a:solidFill>
            <a:srgbClr val="CADCFC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8991295" y="228600"/>
            <a:ext cx="2743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3E7F5"/>
              </a:buClr>
              <a:buSzPts val="11000"/>
              <a:buFont typeface="Cambria"/>
              <a:buNone/>
            </a:pPr>
            <a:r>
              <a:rPr lang="en-US" sz="110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110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822960" y="411480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9" descr="/home/claude/icon_comparis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62179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9"/>
          <p:cNvSpPr/>
          <p:nvPr/>
        </p:nvSpPr>
        <p:spPr>
          <a:xfrm>
            <a:off x="822960" y="17830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Comparison Study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822960" y="2606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Benchmarking against existing methods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9"/>
          <p:cNvCxnSpPr/>
          <p:nvPr/>
        </p:nvCxnSpPr>
        <p:spPr>
          <a:xfrm>
            <a:off x="868680" y="324612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9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2" descr="Kalyani Government Engineering College | Kalyani University Area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" y="0"/>
            <a:ext cx="738150" cy="71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6" descr="https://www.ieeesmc.org/wp-content/uploads/2020/01/SMCS_ID_4-12___17_Mar_202011-scaled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95868" y="6460852"/>
            <a:ext cx="1322103" cy="397148"/>
          </a:xfrm>
          <a:prstGeom prst="rect">
            <a:avLst/>
          </a:prstGeom>
          <a:noFill/>
        </p:spPr>
      </p:pic>
      <p:pic>
        <p:nvPicPr>
          <p:cNvPr id="13" name="Picture 8" descr="IEEE logo transparent PNG - Stick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72849" y="0"/>
            <a:ext cx="919151" cy="512538"/>
          </a:xfrm>
          <a:prstGeom prst="rect">
            <a:avLst/>
          </a:prstGeom>
          <a:noFill/>
        </p:spPr>
      </p:pic>
      <p:sp>
        <p:nvSpPr>
          <p:cNvPr id="9082" name="Card9082"/>
          <p:cNvSpPr/>
          <p:nvPr/>
        </p:nvSpPr>
        <p:spPr>
          <a:xfrm>
            <a:off x="822960" y="3611880"/>
            <a:ext cx="5111496" cy="2651760"/>
          </a:xfrm>
          <a:prstGeom prst="roundRect">
            <a:avLst>
              <a:gd name="adj" fmla="val 5000"/>
            </a:avLst>
          </a:prstGeom>
          <a:solidFill>
            <a:srgbClr val="EEF0F5"/>
          </a:solidFill>
          <a:ln w="9525">
            <a:solidFill>
              <a:srgbClr val="E3E7F5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83" name="TB9083"/>
          <p:cNvSpPr txBox="1"/>
          <p:nvPr/>
        </p:nvSpPr>
        <p:spPr>
          <a:xfrm>
            <a:off x="1078992" y="3776472"/>
            <a:ext cx="45994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TRADITIONAL WEATHER STATIONS</a:t>
            </a:r>
          </a:p>
        </p:txBody>
      </p:sp>
      <p:sp>
        <p:nvSpPr>
          <p:cNvPr id="9084" name="TB9084"/>
          <p:cNvSpPr txBox="1"/>
          <p:nvPr/>
        </p:nvSpPr>
        <p:spPr>
          <a:xfrm>
            <a:off x="1078992" y="4178808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✕  Need physical hardware at every location</a:t>
            </a:r>
          </a:p>
        </p:txBody>
      </p:sp>
      <p:sp>
        <p:nvSpPr>
          <p:cNvPr id="9085" name="TB9085"/>
          <p:cNvSpPr txBox="1"/>
          <p:nvPr/>
        </p:nvSpPr>
        <p:spPr>
          <a:xfrm>
            <a:off x="1078992" y="4462272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✕  Costly to deploy and to keep maintained</a:t>
            </a:r>
          </a:p>
        </p:txBody>
      </p:sp>
      <p:sp>
        <p:nvSpPr>
          <p:cNvPr id="9086" name="TB9086"/>
          <p:cNvSpPr txBox="1"/>
          <p:nvPr/>
        </p:nvSpPr>
        <p:spPr>
          <a:xfrm>
            <a:off x="1078992" y="4745736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✕  Hard to scale past a fixed sensor count</a:t>
            </a:r>
          </a:p>
        </p:txBody>
      </p:sp>
      <p:sp>
        <p:nvSpPr>
          <p:cNvPr id="9087" name="TB9087"/>
          <p:cNvSpPr txBox="1"/>
          <p:nvPr/>
        </p:nvSpPr>
        <p:spPr>
          <a:xfrm>
            <a:off x="1078992" y="5029200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✕  Tells you the risk, not what to do about it</a:t>
            </a:r>
          </a:p>
        </p:txBody>
      </p:sp>
      <p:sp>
        <p:nvSpPr>
          <p:cNvPr id="9088" name="Card9088"/>
          <p:cNvSpPr/>
          <p:nvPr/>
        </p:nvSpPr>
        <p:spPr>
          <a:xfrm>
            <a:off x="6254496" y="3611880"/>
            <a:ext cx="5111496" cy="265176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9525">
            <a:solidFill>
              <a:srgbClr val="1E2761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89" name="TB9089"/>
          <p:cNvSpPr txBox="1"/>
          <p:nvPr/>
        </p:nvSpPr>
        <p:spPr>
          <a:xfrm>
            <a:off x="6510528" y="3776472"/>
            <a:ext cx="45994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TEMPESTGUARD</a:t>
            </a:r>
          </a:p>
        </p:txBody>
      </p:sp>
      <p:sp>
        <p:nvSpPr>
          <p:cNvPr id="9090" name="TB9090"/>
          <p:cNvSpPr txBox="1"/>
          <p:nvPr/>
        </p:nvSpPr>
        <p:spPr>
          <a:xfrm>
            <a:off x="6510528" y="4178808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✓  Nodes are just API calls — fully software-defined</a:t>
            </a:r>
          </a:p>
        </p:txBody>
      </p:sp>
      <p:sp>
        <p:nvSpPr>
          <p:cNvPr id="9091" name="TB9091"/>
          <p:cNvSpPr txBox="1"/>
          <p:nvPr/>
        </p:nvSpPr>
        <p:spPr>
          <a:xfrm>
            <a:off x="6510528" y="4462272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✓  Cheap to run and quick to spin up</a:t>
            </a:r>
          </a:p>
        </p:txBody>
      </p:sp>
      <p:sp>
        <p:nvSpPr>
          <p:cNvPr id="9092" name="TB9092"/>
          <p:cNvSpPr txBox="1"/>
          <p:nvPr/>
        </p:nvSpPr>
        <p:spPr>
          <a:xfrm>
            <a:off x="6510528" y="4745736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✓  Add a node by adding a coordinate</a:t>
            </a:r>
          </a:p>
        </p:txBody>
      </p:sp>
      <p:sp>
        <p:nvSpPr>
          <p:cNvPr id="9093" name="TB9093"/>
          <p:cNvSpPr txBox="1"/>
          <p:nvPr/>
        </p:nvSpPr>
        <p:spPr>
          <a:xfrm>
            <a:off x="6510528" y="5029200"/>
            <a:ext cx="4599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✓  Points you to the nearest node that's safe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4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/>
          <p:nvPr/>
        </p:nvSpPr>
        <p:spPr>
          <a:xfrm>
            <a:off x="-1828800" y="420624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9692640" y="-1828800"/>
            <a:ext cx="4754880" cy="4754880"/>
          </a:xfrm>
          <a:prstGeom prst="ellipse">
            <a:avLst/>
          </a:prstGeom>
          <a:solidFill>
            <a:srgbClr val="C9962C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8991295" y="228600"/>
            <a:ext cx="2743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4306B"/>
              </a:buClr>
              <a:buSzPts val="11000"/>
              <a:buFont typeface="Cambria"/>
              <a:buNone/>
            </a:pPr>
            <a:r>
              <a:rPr lang="en-US" sz="11000" b="1" i="0" u="none" strike="noStrike" cap="none">
                <a:solidFill>
                  <a:srgbClr val="24306B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sz="1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822960" y="411480"/>
            <a:ext cx="1051560" cy="1051560"/>
          </a:xfrm>
          <a:prstGeom prst="ellipse">
            <a:avLst/>
          </a:prstGeom>
          <a:solidFill>
            <a:srgbClr val="C996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10" descr="/home/claude/icon_conclus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62179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822960" y="17830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822960" y="2606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B8E0"/>
              </a:buClr>
              <a:buSzPts val="1700"/>
              <a:buFont typeface="Calibri"/>
              <a:buNone/>
            </a:pPr>
            <a:r>
              <a:rPr lang="en-US" sz="1700" b="0" i="1" u="none" strike="noStrike" cap="none">
                <a:solidFill>
                  <a:srgbClr val="AEB8E0"/>
                </a:solidFill>
                <a:latin typeface="Calibri"/>
                <a:ea typeface="Calibri"/>
                <a:cs typeface="Calibri"/>
                <a:sym typeface="Calibri"/>
              </a:rPr>
              <a:t>Summary and directions ahead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0"/>
          <p:cNvCxnSpPr/>
          <p:nvPr/>
        </p:nvCxnSpPr>
        <p:spPr>
          <a:xfrm>
            <a:off x="868680" y="324612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C9962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1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6D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A6D6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6D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A6D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2" descr="Kalyani Government Engineering College | Kalyani University Area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" y="0"/>
            <a:ext cx="738150" cy="71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6" descr="https://www.ieeesmc.org/wp-content/uploads/2020/01/SMCS_ID_4-12___17_Mar_202011-scaled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95868" y="6460852"/>
            <a:ext cx="1322103" cy="397148"/>
          </a:xfrm>
          <a:prstGeom prst="rect">
            <a:avLst/>
          </a:prstGeom>
          <a:noFill/>
        </p:spPr>
      </p:pic>
      <p:pic>
        <p:nvPicPr>
          <p:cNvPr id="14" name="Picture 8" descr="IEEE logo transparent PNG - Stick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72849" y="0"/>
            <a:ext cx="919151" cy="512538"/>
          </a:xfrm>
          <a:prstGeom prst="rect">
            <a:avLst/>
          </a:prstGeom>
          <a:noFill/>
        </p:spPr>
      </p:pic>
      <p:sp>
        <p:nvSpPr>
          <p:cNvPr id="9094" name="TB9094"/>
          <p:cNvSpPr txBox="1"/>
          <p:nvPr/>
        </p:nvSpPr>
        <p:spPr>
          <a:xfrm>
            <a:off x="822960" y="3611880"/>
            <a:ext cx="50429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962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</p:txBody>
      </p:sp>
      <p:sp>
        <p:nvSpPr>
          <p:cNvPr id="9095" name="TB9095"/>
          <p:cNvSpPr txBox="1"/>
          <p:nvPr/>
        </p:nvSpPr>
        <p:spPr>
          <a:xfrm>
            <a:off x="822960" y="4069080"/>
            <a:ext cx="5042916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E3E7F5"/>
                </a:solidFill>
                <a:latin typeface="Calibri"/>
                <a:ea typeface="Calibri"/>
                <a:cs typeface="Calibri"/>
                <a:sym typeface="Calibri"/>
              </a:rPr>
              <a:t>TempestGuard</a:t>
            </a:r>
            <a:r>
              <a:rPr lang="en-US" sz="1600" b="0" i="0" u="none" strike="noStrike" cap="none" dirty="0">
                <a:solidFill>
                  <a:srgbClr val="E3E7F5"/>
                </a:solidFill>
                <a:latin typeface="Calibri"/>
                <a:ea typeface="Calibri"/>
                <a:cs typeface="Calibri"/>
                <a:sym typeface="Calibri"/>
              </a:rPr>
              <a:t> is proof that a lightweight, API-driven pipeline can stand in for a distributed sensor network — turning ordinary weather readings into thunderstorm guidance you can actually act on, without a single physical sensor.</a:t>
            </a:r>
          </a:p>
        </p:txBody>
      </p:sp>
      <p:sp>
        <p:nvSpPr>
          <p:cNvPr id="9096" name="TB9096"/>
          <p:cNvSpPr txBox="1"/>
          <p:nvPr/>
        </p:nvSpPr>
        <p:spPr>
          <a:xfrm>
            <a:off x="6323076" y="3611880"/>
            <a:ext cx="50429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962C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</a:p>
        </p:txBody>
      </p:sp>
      <p:sp>
        <p:nvSpPr>
          <p:cNvPr id="9097" name="Dot9097"/>
          <p:cNvSpPr/>
          <p:nvPr/>
        </p:nvSpPr>
        <p:spPr>
          <a:xfrm>
            <a:off x="6341364" y="4169664"/>
            <a:ext cx="82296" cy="82296"/>
          </a:xfrm>
          <a:prstGeom prst="ellipse">
            <a:avLst/>
          </a:prstGeom>
          <a:solidFill>
            <a:srgbClr val="C9962C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098" name="TB9098"/>
          <p:cNvSpPr txBox="1"/>
          <p:nvPr/>
        </p:nvSpPr>
        <p:spPr>
          <a:xfrm>
            <a:off x="6560820" y="4087368"/>
            <a:ext cx="48051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3E7F5"/>
                </a:solidFill>
                <a:latin typeface="Calibri"/>
                <a:ea typeface="Calibri"/>
                <a:cs typeface="Calibri"/>
                <a:sym typeface="Calibri"/>
              </a:rPr>
              <a:t>Collect a larger, multi-season dataset to fix the class imbalance</a:t>
            </a:r>
          </a:p>
        </p:txBody>
      </p:sp>
      <p:sp>
        <p:nvSpPr>
          <p:cNvPr id="9099" name="Dot9099"/>
          <p:cNvSpPr/>
          <p:nvPr/>
        </p:nvSpPr>
        <p:spPr>
          <a:xfrm>
            <a:off x="6341364" y="4572000"/>
            <a:ext cx="82296" cy="82296"/>
          </a:xfrm>
          <a:prstGeom prst="ellipse">
            <a:avLst/>
          </a:prstGeom>
          <a:solidFill>
            <a:srgbClr val="C9962C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100" name="TB9100"/>
          <p:cNvSpPr txBox="1"/>
          <p:nvPr/>
        </p:nvSpPr>
        <p:spPr>
          <a:xfrm>
            <a:off x="6560820" y="4489704"/>
            <a:ext cx="48051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3E7F5"/>
                </a:solidFill>
                <a:latin typeface="Calibri"/>
                <a:ea typeface="Calibri"/>
                <a:cs typeface="Calibri"/>
                <a:sym typeface="Calibri"/>
              </a:rPr>
              <a:t>Add rolling / trend-window features for stronger predictions</a:t>
            </a:r>
          </a:p>
        </p:txBody>
      </p:sp>
      <p:sp>
        <p:nvSpPr>
          <p:cNvPr id="9101" name="Dot9101"/>
          <p:cNvSpPr/>
          <p:nvPr/>
        </p:nvSpPr>
        <p:spPr>
          <a:xfrm>
            <a:off x="6341364" y="4974336"/>
            <a:ext cx="82296" cy="82296"/>
          </a:xfrm>
          <a:prstGeom prst="ellipse">
            <a:avLst/>
          </a:prstGeom>
          <a:solidFill>
            <a:srgbClr val="C9962C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102" name="TB9102"/>
          <p:cNvSpPr txBox="1"/>
          <p:nvPr/>
        </p:nvSpPr>
        <p:spPr>
          <a:xfrm>
            <a:off x="6560820" y="4892040"/>
            <a:ext cx="48051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3E7F5"/>
                </a:solidFill>
                <a:latin typeface="Calibri"/>
                <a:ea typeface="Calibri"/>
                <a:cs typeface="Calibri"/>
                <a:sym typeface="Calibri"/>
              </a:rPr>
              <a:t>Bring in real ESP32 sensor nodes alongside the virtual ones</a:t>
            </a:r>
          </a:p>
        </p:txBody>
      </p:sp>
      <p:sp>
        <p:nvSpPr>
          <p:cNvPr id="9103" name="Dot9103"/>
          <p:cNvSpPr/>
          <p:nvPr/>
        </p:nvSpPr>
        <p:spPr>
          <a:xfrm>
            <a:off x="6341364" y="5376672"/>
            <a:ext cx="82296" cy="82296"/>
          </a:xfrm>
          <a:prstGeom prst="ellipse">
            <a:avLst/>
          </a:prstGeom>
          <a:solidFill>
            <a:srgbClr val="C9962C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104" name="TB9104"/>
          <p:cNvSpPr txBox="1"/>
          <p:nvPr/>
        </p:nvSpPr>
        <p:spPr>
          <a:xfrm>
            <a:off x="6560820" y="5294376"/>
            <a:ext cx="48051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3E7F5"/>
                </a:solidFill>
                <a:latin typeface="Calibri"/>
                <a:ea typeface="Calibri"/>
                <a:cs typeface="Calibri"/>
                <a:sym typeface="Calibri"/>
              </a:rPr>
              <a:t>Add alert levels, confidence scores &amp; historical trend charts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702</Words>
  <Application>Microsoft Office PowerPoint</Application>
  <PresentationFormat>Widescreen</PresentationFormat>
  <Paragraphs>105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Pranjal Mohata</cp:lastModifiedBy>
  <cp:revision>1</cp:revision>
  <dcterms:modified xsi:type="dcterms:W3CDTF">2026-08-21T14:32:30Z</dcterms:modified>
</cp:coreProperties>
</file>